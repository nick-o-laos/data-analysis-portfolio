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no"?><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28"/>
    <p:sldId id="257" r:id="rId29"/>
    <p:sldId id="258" r:id="rId30"/>
    <p:sldId id="259" r:id="rId31"/>
    <p:sldId id="260" r:id="rId32"/>
    <p:sldId id="261" r:id="rId33"/>
    <p:sldId id="262" r:id="rId34"/>
    <p:sldId id="263" r:id="rId35"/>
    <p:sldId id="264" r:id="rId36"/>
    <p:sldId id="265" r:id="rId37"/>
  </p:sldIdLst>
  <p:sldSz cx="18288000" cy="10287000"/>
  <p:notesSz cx="6858000" cy="9144000"/>
  <p:embeddedFontLst>
    <p:embeddedFont>
      <p:font typeface="Arimo" charset="1" panose="020B0604020202020204"/>
      <p:regular r:id="rId6"/>
    </p:embeddedFont>
    <p:embeddedFont>
      <p:font typeface="Arimo Bold" charset="1" panose="020B0704020202020204"/>
      <p:regular r:id="rId7"/>
    </p:embeddedFont>
    <p:embeddedFont>
      <p:font typeface="Arimo Italics" charset="1" panose="020B0604020202090204"/>
      <p:regular r:id="rId8"/>
    </p:embeddedFont>
    <p:embeddedFont>
      <p:font typeface="Arimo Bold Italics" charset="1" panose="020B0704020202090204"/>
      <p:regular r:id="rId9"/>
    </p:embeddedFont>
    <p:embeddedFont>
      <p:font typeface="Montserrat" charset="1" panose="00000500000000000000"/>
      <p:regular r:id="rId10"/>
    </p:embeddedFont>
    <p:embeddedFont>
      <p:font typeface="Montserrat Bold" charset="1" panose="00000800000000000000"/>
      <p:regular r:id="rId11"/>
    </p:embeddedFont>
    <p:embeddedFont>
      <p:font typeface="Montserrat Italics" charset="1" panose="00000500000000000000"/>
      <p:regular r:id="rId12"/>
    </p:embeddedFont>
    <p:embeddedFont>
      <p:font typeface="Montserrat Bold Italics" charset="1" panose="00000800000000000000"/>
      <p:regular r:id="rId13"/>
    </p:embeddedFont>
    <p:embeddedFont>
      <p:font typeface="Montserrat Thin" charset="1" panose="00000300000000000000"/>
      <p:regular r:id="rId14"/>
    </p:embeddedFont>
    <p:embeddedFont>
      <p:font typeface="Montserrat Thin Italics" charset="1" panose="00000300000000000000"/>
      <p:regular r:id="rId15"/>
    </p:embeddedFont>
    <p:embeddedFont>
      <p:font typeface="Montserrat Extra-Light" charset="1" panose="00000300000000000000"/>
      <p:regular r:id="rId16"/>
    </p:embeddedFont>
    <p:embeddedFont>
      <p:font typeface="Montserrat Extra-Light Italics" charset="1" panose="00000300000000000000"/>
      <p:regular r:id="rId17"/>
    </p:embeddedFont>
    <p:embeddedFont>
      <p:font typeface="Montserrat Light" charset="1" panose="00000400000000000000"/>
      <p:regular r:id="rId18"/>
    </p:embeddedFont>
    <p:embeddedFont>
      <p:font typeface="Montserrat Light Italics" charset="1" panose="00000400000000000000"/>
      <p:regular r:id="rId19"/>
    </p:embeddedFont>
    <p:embeddedFont>
      <p:font typeface="Montserrat Medium" charset="1" panose="00000600000000000000"/>
      <p:regular r:id="rId20"/>
    </p:embeddedFont>
    <p:embeddedFont>
      <p:font typeface="Montserrat Medium Italics" charset="1" panose="00000600000000000000"/>
      <p:regular r:id="rId21"/>
    </p:embeddedFont>
    <p:embeddedFont>
      <p:font typeface="Montserrat Semi-Bold" charset="1" panose="00000700000000000000"/>
      <p:regular r:id="rId22"/>
    </p:embeddedFont>
    <p:embeddedFont>
      <p:font typeface="Montserrat Semi-Bold Italics" charset="1" panose="00000700000000000000"/>
      <p:regular r:id="rId23"/>
    </p:embeddedFont>
    <p:embeddedFont>
      <p:font typeface="Montserrat Ultra-Bold" charset="1" panose="00000900000000000000"/>
      <p:regular r:id="rId24"/>
    </p:embeddedFont>
    <p:embeddedFont>
      <p:font typeface="Montserrat Ultra-Bold Italics" charset="1" panose="00000900000000000000"/>
      <p:regular r:id="rId25"/>
    </p:embeddedFont>
    <p:embeddedFont>
      <p:font typeface="Montserrat Heavy" charset="1" panose="00000A00000000000000"/>
      <p:regular r:id="rId26"/>
    </p:embeddedFont>
    <p:embeddedFont>
      <p:font typeface="Montserrat Heavy Italics" charset="1" panose="00000A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no"?><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slides/slide1.xml" Type="http://schemas.openxmlformats.org/officeDocument/2006/relationships/slide"/><Relationship Id="rId29" Target="slides/slide2.xml" Type="http://schemas.openxmlformats.org/officeDocument/2006/relationships/slide"/><Relationship Id="rId3" Target="viewProps.xml" Type="http://schemas.openxmlformats.org/officeDocument/2006/relationships/viewProps"/><Relationship Id="rId30" Target="slides/slide3.xml" Type="http://schemas.openxmlformats.org/officeDocument/2006/relationships/slide"/><Relationship Id="rId31" Target="slides/slide4.xml" Type="http://schemas.openxmlformats.org/officeDocument/2006/relationships/slide"/><Relationship Id="rId32" Target="slides/slide5.xml" Type="http://schemas.openxmlformats.org/officeDocument/2006/relationships/slide"/><Relationship Id="rId33" Target="slides/slide6.xml" Type="http://schemas.openxmlformats.org/officeDocument/2006/relationships/slide"/><Relationship Id="rId34" Target="slides/slide7.xml" Type="http://schemas.openxmlformats.org/officeDocument/2006/relationships/slide"/><Relationship Id="rId35" Target="slides/slide8.xml" Type="http://schemas.openxmlformats.org/officeDocument/2006/relationships/slide"/><Relationship Id="rId36" Target="slides/slide9.xml" Type="http://schemas.openxmlformats.org/officeDocument/2006/relationships/slide"/><Relationship Id="rId37" Target="slides/slide10.xml" Type="http://schemas.openxmlformats.org/officeDocument/2006/relationships/slide"/><Relationship Id="rId4" Target="theme/theme1.xml" Type="http://schemas.openxmlformats.org/officeDocument/2006/relationships/theme"/><Relationship Id="rId5" Target="tableStyles.xml" Type="http://schemas.openxmlformats.org/officeDocument/2006/relationships/tableStyles"/><Relationship Id="rId6" Target="fonts/font6.fntdata" Type="http://schemas.openxmlformats.org/officeDocument/2006/relationships/font"/><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no"?><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3.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1.png" Type="http://schemas.openxmlformats.org/officeDocument/2006/relationships/image"/></Relationships>
</file>

<file path=ppt/slides/_rels/slide4.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2.png" Type="http://schemas.openxmlformats.org/officeDocument/2006/relationships/image"/></Relationships>
</file>

<file path=ppt/slides/_rels/slide5.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6.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3.png" Type="http://schemas.openxmlformats.org/officeDocument/2006/relationships/image"/></Relationships>
</file>

<file path=ppt/slides/_rels/slide7.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8.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4.pn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s>
</file>

<file path=ppt/slides/_rels/slide9.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7.png" Type="http://schemas.openxmlformats.org/officeDocument/2006/relationships/image"/><Relationship Id="rId7" Target="../media/image18.png" Type="http://schemas.openxmlformats.org/officeDocument/2006/relationships/image"/></Relationships>
</file>

<file path=ppt/slides/_rels/slide10.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4A6418"/>
        </a:solidFill>
      </p:bgPr>
    </p:bg>
    <p:spTree>
      <p:nvGrpSpPr>
        <p:cNvPr id="1" name=""/>
        <p:cNvGrpSpPr/>
        <p:nvPr/>
      </p:nvGrpSpPr>
      <p:grpSpPr>
        <a:xfrm>
          <a:off x="0" y="0"/>
          <a:ext cx="0" cy="0"/>
          <a:chOff x="0" y="0"/>
          <a:chExt cx="0" cy="0"/>
        </a:xfrm>
      </p:grpSpPr>
      <p:sp>
        <p:nvSpPr>
          <p:cNvPr name="Freeform 2" id="2"/>
          <p:cNvSpPr/>
          <p:nvPr/>
        </p:nvSpPr>
        <p:spPr>
          <a:xfrm flipH="true" flipV="false" rot="0">
            <a:off x="-243643" y="6038690"/>
            <a:ext cx="4947086" cy="4248310"/>
          </a:xfrm>
          <a:custGeom>
            <a:avLst/>
            <a:gdLst/>
            <a:ahLst/>
            <a:cxnLst/>
            <a:rect r="r" b="b" t="t" l="l"/>
            <a:pathLst>
              <a:path h="4248310" w="4947086">
                <a:moveTo>
                  <a:pt x="4947086" y="0"/>
                </a:moveTo>
                <a:lnTo>
                  <a:pt x="0" y="0"/>
                </a:lnTo>
                <a:lnTo>
                  <a:pt x="0" y="4248310"/>
                </a:lnTo>
                <a:lnTo>
                  <a:pt x="4947086" y="4248310"/>
                </a:lnTo>
                <a:lnTo>
                  <a:pt x="494708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4889597" y="0"/>
            <a:ext cx="3398403" cy="2918378"/>
          </a:xfrm>
          <a:custGeom>
            <a:avLst/>
            <a:gdLst/>
            <a:ahLst/>
            <a:cxnLst/>
            <a:rect r="r" b="b" t="t" l="l"/>
            <a:pathLst>
              <a:path h="2918378" w="3398403">
                <a:moveTo>
                  <a:pt x="0" y="2918378"/>
                </a:moveTo>
                <a:lnTo>
                  <a:pt x="3398403" y="2918378"/>
                </a:lnTo>
                <a:lnTo>
                  <a:pt x="3398403" y="0"/>
                </a:lnTo>
                <a:lnTo>
                  <a:pt x="0" y="0"/>
                </a:lnTo>
                <a:lnTo>
                  <a:pt x="0" y="291837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7894348" y="2630939"/>
            <a:ext cx="2499303" cy="1034087"/>
          </a:xfrm>
          <a:custGeom>
            <a:avLst/>
            <a:gdLst/>
            <a:ahLst/>
            <a:cxnLst/>
            <a:rect r="r" b="b" t="t" l="l"/>
            <a:pathLst>
              <a:path h="1034087" w="2499303">
                <a:moveTo>
                  <a:pt x="0" y="0"/>
                </a:moveTo>
                <a:lnTo>
                  <a:pt x="2499304" y="0"/>
                </a:lnTo>
                <a:lnTo>
                  <a:pt x="2499304" y="1034086"/>
                </a:lnTo>
                <a:lnTo>
                  <a:pt x="0" y="10340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28700" y="-310771"/>
            <a:ext cx="1519953" cy="1769960"/>
          </a:xfrm>
          <a:custGeom>
            <a:avLst/>
            <a:gdLst/>
            <a:ahLst/>
            <a:cxnLst/>
            <a:rect r="r" b="b" t="t" l="l"/>
            <a:pathLst>
              <a:path h="1769960" w="1519953">
                <a:moveTo>
                  <a:pt x="0" y="0"/>
                </a:moveTo>
                <a:lnTo>
                  <a:pt x="1519953" y="0"/>
                </a:lnTo>
                <a:lnTo>
                  <a:pt x="1519953" y="1769960"/>
                </a:lnTo>
                <a:lnTo>
                  <a:pt x="0" y="17699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5739347" y="8733624"/>
            <a:ext cx="1519953" cy="1769960"/>
          </a:xfrm>
          <a:custGeom>
            <a:avLst/>
            <a:gdLst/>
            <a:ahLst/>
            <a:cxnLst/>
            <a:rect r="r" b="b" t="t" l="l"/>
            <a:pathLst>
              <a:path h="1769960" w="1519953">
                <a:moveTo>
                  <a:pt x="0" y="0"/>
                </a:moveTo>
                <a:lnTo>
                  <a:pt x="1519953" y="0"/>
                </a:lnTo>
                <a:lnTo>
                  <a:pt x="1519953" y="1769960"/>
                </a:lnTo>
                <a:lnTo>
                  <a:pt x="0" y="17699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5790592" y="3777265"/>
            <a:ext cx="6706816" cy="1078795"/>
          </a:xfrm>
          <a:prstGeom prst="rect">
            <a:avLst/>
          </a:prstGeom>
        </p:spPr>
        <p:txBody>
          <a:bodyPr anchor="t" rtlCol="false" tIns="0" lIns="0" bIns="0" rIns="0">
            <a:spAutoFit/>
          </a:bodyPr>
          <a:lstStyle/>
          <a:p>
            <a:pPr algn="ctr">
              <a:lnSpc>
                <a:spcPts val="8788"/>
              </a:lnSpc>
            </a:pPr>
            <a:r>
              <a:rPr lang="en-US" sz="6277">
                <a:solidFill>
                  <a:srgbClr val="F9B80C"/>
                </a:solidFill>
                <a:latin typeface="Montserrat"/>
              </a:rPr>
              <a:t>Motodynamiki</a:t>
            </a:r>
          </a:p>
        </p:txBody>
      </p:sp>
      <p:sp>
        <p:nvSpPr>
          <p:cNvPr name="TextBox 8" id="8"/>
          <p:cNvSpPr txBox="true"/>
          <p:nvPr/>
        </p:nvSpPr>
        <p:spPr>
          <a:xfrm rot="0">
            <a:off x="5120292" y="4703660"/>
            <a:ext cx="8047416" cy="1335030"/>
          </a:xfrm>
          <a:prstGeom prst="rect">
            <a:avLst/>
          </a:prstGeom>
        </p:spPr>
        <p:txBody>
          <a:bodyPr anchor="t" rtlCol="false" tIns="0" lIns="0" bIns="0" rIns="0">
            <a:spAutoFit/>
          </a:bodyPr>
          <a:lstStyle/>
          <a:p>
            <a:pPr algn="ctr">
              <a:lnSpc>
                <a:spcPts val="10940"/>
              </a:lnSpc>
            </a:pPr>
            <a:r>
              <a:rPr lang="en-US" sz="7814">
                <a:solidFill>
                  <a:srgbClr val="FFFFFF"/>
                </a:solidFill>
                <a:latin typeface="Montserrat Ultra-Bold"/>
              </a:rPr>
              <a:t>Data Analysis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1028700"/>
            <a:ext cx="9949295" cy="3302579"/>
          </a:xfrm>
          <a:prstGeom prst="rect">
            <a:avLst/>
          </a:prstGeom>
          <a:solidFill>
            <a:srgbClr val="4A6418"/>
          </a:solidFill>
        </p:spPr>
      </p:sp>
      <p:sp>
        <p:nvSpPr>
          <p:cNvPr name="Freeform 3" id="3"/>
          <p:cNvSpPr/>
          <p:nvPr/>
        </p:nvSpPr>
        <p:spPr>
          <a:xfrm flipH="false" flipV="false" rot="0">
            <a:off x="10728853" y="2445687"/>
            <a:ext cx="7205856" cy="4258006"/>
          </a:xfrm>
          <a:custGeom>
            <a:avLst/>
            <a:gdLst/>
            <a:ahLst/>
            <a:cxnLst/>
            <a:rect r="r" b="b" t="t" l="l"/>
            <a:pathLst>
              <a:path h="4258006" w="7205856">
                <a:moveTo>
                  <a:pt x="0" y="0"/>
                </a:moveTo>
                <a:lnTo>
                  <a:pt x="7205856" y="0"/>
                </a:lnTo>
                <a:lnTo>
                  <a:pt x="7205856" y="4258006"/>
                </a:lnTo>
                <a:lnTo>
                  <a:pt x="0" y="42580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9949295" y="7841313"/>
            <a:ext cx="2847962" cy="2445687"/>
          </a:xfrm>
          <a:custGeom>
            <a:avLst/>
            <a:gdLst/>
            <a:ahLst/>
            <a:cxnLst/>
            <a:rect r="r" b="b" t="t" l="l"/>
            <a:pathLst>
              <a:path h="2445687" w="2847962">
                <a:moveTo>
                  <a:pt x="2847962" y="0"/>
                </a:moveTo>
                <a:lnTo>
                  <a:pt x="0" y="0"/>
                </a:lnTo>
                <a:lnTo>
                  <a:pt x="0" y="2445687"/>
                </a:lnTo>
                <a:lnTo>
                  <a:pt x="2847962" y="2445687"/>
                </a:lnTo>
                <a:lnTo>
                  <a:pt x="284796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5440038" y="0"/>
            <a:ext cx="2847962" cy="2445687"/>
          </a:xfrm>
          <a:custGeom>
            <a:avLst/>
            <a:gdLst/>
            <a:ahLst/>
            <a:cxnLst/>
            <a:rect r="r" b="b" t="t" l="l"/>
            <a:pathLst>
              <a:path h="2445687" w="2847962">
                <a:moveTo>
                  <a:pt x="0" y="2445687"/>
                </a:moveTo>
                <a:lnTo>
                  <a:pt x="2847962" y="2445687"/>
                </a:lnTo>
                <a:lnTo>
                  <a:pt x="2847962" y="0"/>
                </a:lnTo>
                <a:lnTo>
                  <a:pt x="0" y="0"/>
                </a:lnTo>
                <a:lnTo>
                  <a:pt x="0" y="244568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028700" y="1897889"/>
            <a:ext cx="7282113" cy="2129154"/>
          </a:xfrm>
          <a:prstGeom prst="rect">
            <a:avLst/>
          </a:prstGeom>
        </p:spPr>
        <p:txBody>
          <a:bodyPr anchor="t" rtlCol="false" tIns="0" lIns="0" bIns="0" rIns="0">
            <a:spAutoFit/>
          </a:bodyPr>
          <a:lstStyle/>
          <a:p>
            <a:pPr>
              <a:lnSpc>
                <a:spcPts val="6600"/>
              </a:lnSpc>
            </a:pPr>
            <a:r>
              <a:rPr lang="en-US" sz="7500">
                <a:solidFill>
                  <a:srgbClr val="F9B80C"/>
                </a:solidFill>
                <a:latin typeface="Montserrat Ultra-Bold"/>
              </a:rPr>
              <a:t>1. Data Presentation</a:t>
            </a:r>
          </a:p>
          <a:p>
            <a:pPr algn="ctr">
              <a:lnSpc>
                <a:spcPts val="3519"/>
              </a:lnSpc>
            </a:pPr>
          </a:p>
        </p:txBody>
      </p:sp>
      <p:sp>
        <p:nvSpPr>
          <p:cNvPr name="TextBox 7" id="7"/>
          <p:cNvSpPr txBox="true"/>
          <p:nvPr/>
        </p:nvSpPr>
        <p:spPr>
          <a:xfrm rot="0">
            <a:off x="610488" y="5072778"/>
            <a:ext cx="9338807" cy="4781550"/>
          </a:xfrm>
          <a:prstGeom prst="rect">
            <a:avLst/>
          </a:prstGeom>
        </p:spPr>
        <p:txBody>
          <a:bodyPr anchor="t" rtlCol="false" tIns="0" lIns="0" bIns="0" rIns="0">
            <a:spAutoFit/>
          </a:bodyPr>
          <a:lstStyle/>
          <a:p>
            <a:pPr algn="just">
              <a:lnSpc>
                <a:spcPts val="4200"/>
              </a:lnSpc>
            </a:pPr>
            <a:r>
              <a:rPr lang="en-US" sz="3000">
                <a:solidFill>
                  <a:srgbClr val="000000"/>
                </a:solidFill>
                <a:latin typeface="Montserrat"/>
              </a:rPr>
              <a:t>The given data were a total of 50 variables on 5000 observations containing both </a:t>
            </a:r>
            <a:r>
              <a:rPr lang="en-US" sz="3000">
                <a:solidFill>
                  <a:srgbClr val="000000"/>
                </a:solidFill>
                <a:latin typeface="Montserrat Bold"/>
              </a:rPr>
              <a:t>quantitative </a:t>
            </a:r>
            <a:r>
              <a:rPr lang="en-US" sz="3000">
                <a:solidFill>
                  <a:srgbClr val="000000"/>
                </a:solidFill>
                <a:latin typeface="Montserrat"/>
              </a:rPr>
              <a:t>and </a:t>
            </a:r>
            <a:r>
              <a:rPr lang="en-US" sz="3000">
                <a:solidFill>
                  <a:srgbClr val="000000"/>
                </a:solidFill>
                <a:latin typeface="Montserrat Bold"/>
              </a:rPr>
              <a:t>qualitative </a:t>
            </a:r>
            <a:r>
              <a:rPr lang="en-US" sz="3000">
                <a:solidFill>
                  <a:srgbClr val="000000"/>
                </a:solidFill>
                <a:latin typeface="Montserrat"/>
              </a:rPr>
              <a:t>data. </a:t>
            </a:r>
          </a:p>
          <a:p>
            <a:pPr algn="just">
              <a:lnSpc>
                <a:spcPts val="4200"/>
              </a:lnSpc>
            </a:pPr>
            <a:r>
              <a:rPr lang="en-US" sz="3000">
                <a:solidFill>
                  <a:srgbClr val="000000"/>
                </a:solidFill>
                <a:latin typeface="Montserrat"/>
              </a:rPr>
              <a:t>However, some </a:t>
            </a:r>
            <a:r>
              <a:rPr lang="en-US" sz="3000">
                <a:solidFill>
                  <a:srgbClr val="000000"/>
                </a:solidFill>
                <a:latin typeface="Montserrat Bold"/>
              </a:rPr>
              <a:t>adjustments </a:t>
            </a:r>
            <a:r>
              <a:rPr lang="en-US" sz="3000">
                <a:solidFill>
                  <a:srgbClr val="000000"/>
                </a:solidFill>
                <a:latin typeface="Montserrat"/>
              </a:rPr>
              <a:t>were needed to be done in order to facilitate the analysis.</a:t>
            </a:r>
          </a:p>
          <a:p>
            <a:pPr>
              <a:lnSpc>
                <a:spcPts val="4200"/>
              </a:lnSpc>
            </a:pPr>
            <a:r>
              <a:rPr lang="en-US" sz="3000">
                <a:solidFill>
                  <a:srgbClr val="000000"/>
                </a:solidFill>
                <a:latin typeface="Montserrat"/>
              </a:rPr>
              <a:t>Specifically, some variables were initially </a:t>
            </a:r>
            <a:r>
              <a:rPr lang="en-US" sz="3000">
                <a:solidFill>
                  <a:srgbClr val="000000"/>
                </a:solidFill>
                <a:latin typeface="Montserrat Bold"/>
              </a:rPr>
              <a:t>removed </a:t>
            </a:r>
            <a:r>
              <a:rPr lang="en-US" sz="3000">
                <a:solidFill>
                  <a:srgbClr val="000000"/>
                </a:solidFill>
                <a:latin typeface="Montserrat"/>
              </a:rPr>
              <a:t>and some rows as well that contained </a:t>
            </a:r>
            <a:r>
              <a:rPr lang="en-US" sz="3000">
                <a:solidFill>
                  <a:srgbClr val="000000"/>
                </a:solidFill>
                <a:latin typeface="Montserrat Bold"/>
              </a:rPr>
              <a:t>missing values</a:t>
            </a:r>
            <a:r>
              <a:rPr lang="en-US" sz="3000">
                <a:solidFill>
                  <a:srgbClr val="000000"/>
                </a:solidFill>
                <a:latin typeface="Montserrat"/>
              </a:rPr>
              <a:t> that could not be easily obtained. </a:t>
            </a:r>
          </a:p>
        </p:txBody>
      </p:sp>
      <p:sp>
        <p:nvSpPr>
          <p:cNvPr name="Freeform 8" id="8"/>
          <p:cNvSpPr/>
          <p:nvPr/>
        </p:nvSpPr>
        <p:spPr>
          <a:xfrm flipH="false" flipV="false" rot="0">
            <a:off x="15739347" y="8733624"/>
            <a:ext cx="1519953" cy="1769960"/>
          </a:xfrm>
          <a:custGeom>
            <a:avLst/>
            <a:gdLst/>
            <a:ahLst/>
            <a:cxnLst/>
            <a:rect r="r" b="b" t="t" l="l"/>
            <a:pathLst>
              <a:path h="1769960" w="1519953">
                <a:moveTo>
                  <a:pt x="0" y="0"/>
                </a:moveTo>
                <a:lnTo>
                  <a:pt x="1519953" y="0"/>
                </a:lnTo>
                <a:lnTo>
                  <a:pt x="1519953" y="1769960"/>
                </a:lnTo>
                <a:lnTo>
                  <a:pt x="0" y="17699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1028700"/>
            <a:ext cx="8894243" cy="9258300"/>
          </a:xfrm>
          <a:prstGeom prst="rect">
            <a:avLst/>
          </a:prstGeom>
          <a:solidFill>
            <a:srgbClr val="4A6418"/>
          </a:solidFill>
        </p:spPr>
      </p:sp>
      <p:sp>
        <p:nvSpPr>
          <p:cNvPr name="Freeform 3" id="3"/>
          <p:cNvSpPr/>
          <p:nvPr/>
        </p:nvSpPr>
        <p:spPr>
          <a:xfrm flipH="true" flipV="false" rot="0">
            <a:off x="9144000" y="7841313"/>
            <a:ext cx="2847962" cy="2445687"/>
          </a:xfrm>
          <a:custGeom>
            <a:avLst/>
            <a:gdLst/>
            <a:ahLst/>
            <a:cxnLst/>
            <a:rect r="r" b="b" t="t" l="l"/>
            <a:pathLst>
              <a:path h="2445687" w="2847962">
                <a:moveTo>
                  <a:pt x="2847962" y="0"/>
                </a:moveTo>
                <a:lnTo>
                  <a:pt x="0" y="0"/>
                </a:lnTo>
                <a:lnTo>
                  <a:pt x="0" y="2445687"/>
                </a:lnTo>
                <a:lnTo>
                  <a:pt x="2847962" y="2445687"/>
                </a:lnTo>
                <a:lnTo>
                  <a:pt x="284796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15440038" y="0"/>
            <a:ext cx="2847962" cy="2445687"/>
          </a:xfrm>
          <a:custGeom>
            <a:avLst/>
            <a:gdLst/>
            <a:ahLst/>
            <a:cxnLst/>
            <a:rect r="r" b="b" t="t" l="l"/>
            <a:pathLst>
              <a:path h="2445687" w="2847962">
                <a:moveTo>
                  <a:pt x="0" y="2445687"/>
                </a:moveTo>
                <a:lnTo>
                  <a:pt x="2847962" y="2445687"/>
                </a:lnTo>
                <a:lnTo>
                  <a:pt x="2847962" y="0"/>
                </a:lnTo>
                <a:lnTo>
                  <a:pt x="0" y="0"/>
                </a:lnTo>
                <a:lnTo>
                  <a:pt x="0" y="244568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739347" y="8733624"/>
            <a:ext cx="1519953" cy="1769960"/>
          </a:xfrm>
          <a:custGeom>
            <a:avLst/>
            <a:gdLst/>
            <a:ahLst/>
            <a:cxnLst/>
            <a:rect r="r" b="b" t="t" l="l"/>
            <a:pathLst>
              <a:path h="1769960" w="1519953">
                <a:moveTo>
                  <a:pt x="0" y="0"/>
                </a:moveTo>
                <a:lnTo>
                  <a:pt x="1519953" y="0"/>
                </a:lnTo>
                <a:lnTo>
                  <a:pt x="1519953" y="1769960"/>
                </a:lnTo>
                <a:lnTo>
                  <a:pt x="0" y="17699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5425149" y="675727"/>
            <a:ext cx="1519953" cy="1769960"/>
          </a:xfrm>
          <a:custGeom>
            <a:avLst/>
            <a:gdLst/>
            <a:ahLst/>
            <a:cxnLst/>
            <a:rect r="r" b="b" t="t" l="l"/>
            <a:pathLst>
              <a:path h="1769960" w="1519953">
                <a:moveTo>
                  <a:pt x="0" y="0"/>
                </a:moveTo>
                <a:lnTo>
                  <a:pt x="1519953" y="0"/>
                </a:lnTo>
                <a:lnTo>
                  <a:pt x="1519953" y="1769960"/>
                </a:lnTo>
                <a:lnTo>
                  <a:pt x="0" y="17699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8894243" y="2933186"/>
            <a:ext cx="9372843" cy="4438108"/>
          </a:xfrm>
          <a:custGeom>
            <a:avLst/>
            <a:gdLst/>
            <a:ahLst/>
            <a:cxnLst/>
            <a:rect r="r" b="b" t="t" l="l"/>
            <a:pathLst>
              <a:path h="4438108" w="9372843">
                <a:moveTo>
                  <a:pt x="0" y="0"/>
                </a:moveTo>
                <a:lnTo>
                  <a:pt x="9372844" y="0"/>
                </a:lnTo>
                <a:lnTo>
                  <a:pt x="9372844" y="4438108"/>
                </a:lnTo>
                <a:lnTo>
                  <a:pt x="0" y="4438108"/>
                </a:lnTo>
                <a:lnTo>
                  <a:pt x="0" y="0"/>
                </a:lnTo>
                <a:close/>
              </a:path>
            </a:pathLst>
          </a:custGeom>
          <a:blipFill>
            <a:blip r:embed="rId8"/>
            <a:stretch>
              <a:fillRect l="0" t="0" r="0" b="0"/>
            </a:stretch>
          </a:blipFill>
        </p:spPr>
      </p:sp>
      <p:sp>
        <p:nvSpPr>
          <p:cNvPr name="TextBox 8" id="8"/>
          <p:cNvSpPr txBox="true"/>
          <p:nvPr/>
        </p:nvSpPr>
        <p:spPr>
          <a:xfrm rot="0">
            <a:off x="713008" y="2533136"/>
            <a:ext cx="8181235" cy="2148162"/>
          </a:xfrm>
          <a:prstGeom prst="rect">
            <a:avLst/>
          </a:prstGeom>
        </p:spPr>
        <p:txBody>
          <a:bodyPr anchor="t" rtlCol="false" tIns="0" lIns="0" bIns="0" rIns="0">
            <a:spAutoFit/>
          </a:bodyPr>
          <a:lstStyle/>
          <a:p>
            <a:pPr>
              <a:lnSpc>
                <a:spcPts val="6159"/>
              </a:lnSpc>
            </a:pPr>
            <a:r>
              <a:rPr lang="en-US" sz="6999">
                <a:solidFill>
                  <a:srgbClr val="F9B80C"/>
                </a:solidFill>
                <a:latin typeface="Montserrat Ultra-Bold"/>
              </a:rPr>
              <a:t>2.1. Explanatory Data Analysis</a:t>
            </a:r>
          </a:p>
          <a:p>
            <a:pPr>
              <a:lnSpc>
                <a:spcPts val="4370"/>
              </a:lnSpc>
            </a:pPr>
          </a:p>
        </p:txBody>
      </p:sp>
      <p:sp>
        <p:nvSpPr>
          <p:cNvPr name="TextBox 9" id="9"/>
          <p:cNvSpPr txBox="true"/>
          <p:nvPr/>
        </p:nvSpPr>
        <p:spPr>
          <a:xfrm rot="0">
            <a:off x="1015171" y="4282607"/>
            <a:ext cx="6863901" cy="4781550"/>
          </a:xfrm>
          <a:prstGeom prst="rect">
            <a:avLst/>
          </a:prstGeom>
        </p:spPr>
        <p:txBody>
          <a:bodyPr anchor="t" rtlCol="false" tIns="0" lIns="0" bIns="0" rIns="0">
            <a:spAutoFit/>
          </a:bodyPr>
          <a:lstStyle/>
          <a:p>
            <a:pPr>
              <a:lnSpc>
                <a:spcPts val="4200"/>
              </a:lnSpc>
            </a:pPr>
            <a:r>
              <a:rPr lang="en-US" sz="3000">
                <a:solidFill>
                  <a:srgbClr val="FFFFFF"/>
                </a:solidFill>
                <a:latin typeface="Montserrat"/>
              </a:rPr>
              <a:t>On the EDA part a </a:t>
            </a:r>
            <a:r>
              <a:rPr lang="en-US" sz="3000">
                <a:solidFill>
                  <a:srgbClr val="FFFFFF"/>
                </a:solidFill>
                <a:latin typeface="Montserrat Bold"/>
              </a:rPr>
              <a:t>distinction</a:t>
            </a:r>
            <a:r>
              <a:rPr lang="en-US" sz="3000">
                <a:solidFill>
                  <a:srgbClr val="FFFFFF"/>
                </a:solidFill>
                <a:latin typeface="Montserrat"/>
              </a:rPr>
              <a:t> was made between the ODNR (On-Desk Net Revenue) variable and the rest, because the ODNR considered to be the explanatory variable of the analysis. </a:t>
            </a:r>
          </a:p>
          <a:p>
            <a:pPr>
              <a:lnSpc>
                <a:spcPts val="4200"/>
              </a:lnSpc>
            </a:pPr>
            <a:r>
              <a:rPr lang="en-US" sz="3000">
                <a:solidFill>
                  <a:srgbClr val="FFFFFF"/>
                </a:solidFill>
                <a:latin typeface="Montserrat"/>
              </a:rPr>
              <a:t>Here we see the empirical distribution of ODNR with and without zeros.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1028700"/>
            <a:ext cx="8894243" cy="9258300"/>
          </a:xfrm>
          <a:prstGeom prst="rect">
            <a:avLst/>
          </a:prstGeom>
          <a:solidFill>
            <a:srgbClr val="4A6418"/>
          </a:solidFill>
        </p:spPr>
      </p:sp>
      <p:sp>
        <p:nvSpPr>
          <p:cNvPr name="Freeform 3" id="3"/>
          <p:cNvSpPr/>
          <p:nvPr/>
        </p:nvSpPr>
        <p:spPr>
          <a:xfrm flipH="true" flipV="false" rot="0">
            <a:off x="9144000" y="7841313"/>
            <a:ext cx="2847962" cy="2445687"/>
          </a:xfrm>
          <a:custGeom>
            <a:avLst/>
            <a:gdLst/>
            <a:ahLst/>
            <a:cxnLst/>
            <a:rect r="r" b="b" t="t" l="l"/>
            <a:pathLst>
              <a:path h="2445687" w="2847962">
                <a:moveTo>
                  <a:pt x="2847962" y="0"/>
                </a:moveTo>
                <a:lnTo>
                  <a:pt x="0" y="0"/>
                </a:lnTo>
                <a:lnTo>
                  <a:pt x="0" y="2445687"/>
                </a:lnTo>
                <a:lnTo>
                  <a:pt x="2847962" y="2445687"/>
                </a:lnTo>
                <a:lnTo>
                  <a:pt x="284796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15440038" y="0"/>
            <a:ext cx="2847962" cy="2445687"/>
          </a:xfrm>
          <a:custGeom>
            <a:avLst/>
            <a:gdLst/>
            <a:ahLst/>
            <a:cxnLst/>
            <a:rect r="r" b="b" t="t" l="l"/>
            <a:pathLst>
              <a:path h="2445687" w="2847962">
                <a:moveTo>
                  <a:pt x="0" y="2445687"/>
                </a:moveTo>
                <a:lnTo>
                  <a:pt x="2847962" y="2445687"/>
                </a:lnTo>
                <a:lnTo>
                  <a:pt x="2847962" y="0"/>
                </a:lnTo>
                <a:lnTo>
                  <a:pt x="0" y="0"/>
                </a:lnTo>
                <a:lnTo>
                  <a:pt x="0" y="244568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739347" y="8733624"/>
            <a:ext cx="1519953" cy="1769960"/>
          </a:xfrm>
          <a:custGeom>
            <a:avLst/>
            <a:gdLst/>
            <a:ahLst/>
            <a:cxnLst/>
            <a:rect r="r" b="b" t="t" l="l"/>
            <a:pathLst>
              <a:path h="1769960" w="1519953">
                <a:moveTo>
                  <a:pt x="0" y="0"/>
                </a:moveTo>
                <a:lnTo>
                  <a:pt x="1519953" y="0"/>
                </a:lnTo>
                <a:lnTo>
                  <a:pt x="1519953" y="1769960"/>
                </a:lnTo>
                <a:lnTo>
                  <a:pt x="0" y="17699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5425149" y="675727"/>
            <a:ext cx="1519953" cy="1769960"/>
          </a:xfrm>
          <a:custGeom>
            <a:avLst/>
            <a:gdLst/>
            <a:ahLst/>
            <a:cxnLst/>
            <a:rect r="r" b="b" t="t" l="l"/>
            <a:pathLst>
              <a:path h="1769960" w="1519953">
                <a:moveTo>
                  <a:pt x="0" y="0"/>
                </a:moveTo>
                <a:lnTo>
                  <a:pt x="1519953" y="0"/>
                </a:lnTo>
                <a:lnTo>
                  <a:pt x="1519953" y="1769960"/>
                </a:lnTo>
                <a:lnTo>
                  <a:pt x="0" y="17699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8894243" y="1028700"/>
            <a:ext cx="9393757" cy="4806124"/>
          </a:xfrm>
          <a:custGeom>
            <a:avLst/>
            <a:gdLst/>
            <a:ahLst/>
            <a:cxnLst/>
            <a:rect r="r" b="b" t="t" l="l"/>
            <a:pathLst>
              <a:path h="4806124" w="9393757">
                <a:moveTo>
                  <a:pt x="0" y="0"/>
                </a:moveTo>
                <a:lnTo>
                  <a:pt x="9393757" y="0"/>
                </a:lnTo>
                <a:lnTo>
                  <a:pt x="9393757" y="4806124"/>
                </a:lnTo>
                <a:lnTo>
                  <a:pt x="0" y="4806124"/>
                </a:lnTo>
                <a:lnTo>
                  <a:pt x="0" y="0"/>
                </a:lnTo>
                <a:close/>
              </a:path>
            </a:pathLst>
          </a:custGeom>
          <a:blipFill>
            <a:blip r:embed="rId8"/>
            <a:stretch>
              <a:fillRect l="0" t="-467" r="0" b="-467"/>
            </a:stretch>
          </a:blipFill>
        </p:spPr>
      </p:sp>
      <p:sp>
        <p:nvSpPr>
          <p:cNvPr name="TextBox 8" id="8"/>
          <p:cNvSpPr txBox="true"/>
          <p:nvPr/>
        </p:nvSpPr>
        <p:spPr>
          <a:xfrm rot="0">
            <a:off x="713008" y="2533136"/>
            <a:ext cx="8181235" cy="2148162"/>
          </a:xfrm>
          <a:prstGeom prst="rect">
            <a:avLst/>
          </a:prstGeom>
        </p:spPr>
        <p:txBody>
          <a:bodyPr anchor="t" rtlCol="false" tIns="0" lIns="0" bIns="0" rIns="0">
            <a:spAutoFit/>
          </a:bodyPr>
          <a:lstStyle/>
          <a:p>
            <a:pPr>
              <a:lnSpc>
                <a:spcPts val="6159"/>
              </a:lnSpc>
            </a:pPr>
            <a:r>
              <a:rPr lang="en-US" sz="6999">
                <a:solidFill>
                  <a:srgbClr val="F9B80C"/>
                </a:solidFill>
                <a:latin typeface="Montserrat Ultra-Bold"/>
              </a:rPr>
              <a:t>2.2. Explanatory Data Analysis</a:t>
            </a:r>
          </a:p>
          <a:p>
            <a:pPr>
              <a:lnSpc>
                <a:spcPts val="4370"/>
              </a:lnSpc>
            </a:pPr>
          </a:p>
        </p:txBody>
      </p:sp>
      <p:sp>
        <p:nvSpPr>
          <p:cNvPr name="TextBox 9" id="9"/>
          <p:cNvSpPr txBox="true"/>
          <p:nvPr/>
        </p:nvSpPr>
        <p:spPr>
          <a:xfrm rot="0">
            <a:off x="1028700" y="4488513"/>
            <a:ext cx="6863901" cy="2114550"/>
          </a:xfrm>
          <a:prstGeom prst="rect">
            <a:avLst/>
          </a:prstGeom>
        </p:spPr>
        <p:txBody>
          <a:bodyPr anchor="t" rtlCol="false" tIns="0" lIns="0" bIns="0" rIns="0">
            <a:spAutoFit/>
          </a:bodyPr>
          <a:lstStyle/>
          <a:p>
            <a:pPr>
              <a:lnSpc>
                <a:spcPts val="4200"/>
              </a:lnSpc>
            </a:pPr>
            <a:r>
              <a:rPr lang="en-US" sz="3000">
                <a:solidFill>
                  <a:srgbClr val="FFFFFF"/>
                </a:solidFill>
                <a:latin typeface="Montserrat"/>
              </a:rPr>
              <a:t>In this image, we get some brief information about how the rest variables are distributed.</a:t>
            </a:r>
          </a:p>
          <a:p>
            <a:pPr>
              <a:lnSpc>
                <a:spcPts val="4200"/>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18288000" cy="3794812"/>
          </a:xfrm>
          <a:prstGeom prst="rect">
            <a:avLst/>
          </a:prstGeom>
          <a:solidFill>
            <a:srgbClr val="F9B80C"/>
          </a:solidFill>
        </p:spPr>
      </p:sp>
      <p:grpSp>
        <p:nvGrpSpPr>
          <p:cNvPr name="Group 3" id="3"/>
          <p:cNvGrpSpPr/>
          <p:nvPr/>
        </p:nvGrpSpPr>
        <p:grpSpPr>
          <a:xfrm rot="0">
            <a:off x="2046620" y="4804382"/>
            <a:ext cx="2512795" cy="2512795"/>
            <a:chOff x="0" y="0"/>
            <a:chExt cx="6350000" cy="6350000"/>
          </a:xfrm>
        </p:grpSpPr>
        <p:sp>
          <p:nvSpPr>
            <p:cNvPr name="Freeform 4" id="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A6418"/>
            </a:solidFill>
          </p:spPr>
        </p:sp>
      </p:grpSp>
      <p:sp>
        <p:nvSpPr>
          <p:cNvPr name="TextBox 5" id="5"/>
          <p:cNvSpPr txBox="true"/>
          <p:nvPr/>
        </p:nvSpPr>
        <p:spPr>
          <a:xfrm rot="0">
            <a:off x="2354956" y="5621031"/>
            <a:ext cx="1896121" cy="1124186"/>
          </a:xfrm>
          <a:prstGeom prst="rect">
            <a:avLst/>
          </a:prstGeom>
        </p:spPr>
        <p:txBody>
          <a:bodyPr anchor="t" rtlCol="false" tIns="0" lIns="0" bIns="0" rIns="0">
            <a:spAutoFit/>
          </a:bodyPr>
          <a:lstStyle/>
          <a:p>
            <a:pPr algn="ctr">
              <a:lnSpc>
                <a:spcPts val="8242"/>
              </a:lnSpc>
            </a:pPr>
            <a:r>
              <a:rPr lang="en-US" sz="9058">
                <a:solidFill>
                  <a:srgbClr val="FFFFFF"/>
                </a:solidFill>
                <a:latin typeface="Montserrat Ultra-Bold"/>
              </a:rPr>
              <a:t>01</a:t>
            </a:r>
          </a:p>
        </p:txBody>
      </p:sp>
      <p:sp>
        <p:nvSpPr>
          <p:cNvPr name="TextBox 6" id="6"/>
          <p:cNvSpPr txBox="true"/>
          <p:nvPr/>
        </p:nvSpPr>
        <p:spPr>
          <a:xfrm rot="0">
            <a:off x="2046620" y="7773155"/>
            <a:ext cx="3007506" cy="548221"/>
          </a:xfrm>
          <a:prstGeom prst="rect">
            <a:avLst/>
          </a:prstGeom>
        </p:spPr>
        <p:txBody>
          <a:bodyPr anchor="t" rtlCol="false" tIns="0" lIns="0" bIns="0" rIns="0">
            <a:spAutoFit/>
          </a:bodyPr>
          <a:lstStyle/>
          <a:p>
            <a:pPr>
              <a:lnSpc>
                <a:spcPts val="4433"/>
              </a:lnSpc>
            </a:pPr>
            <a:r>
              <a:rPr lang="en-US" sz="3166">
                <a:solidFill>
                  <a:srgbClr val="F9B80C"/>
                </a:solidFill>
                <a:latin typeface="Montserrat Ultra-Bold"/>
              </a:rPr>
              <a:t>Increments</a:t>
            </a:r>
          </a:p>
        </p:txBody>
      </p:sp>
      <p:sp>
        <p:nvSpPr>
          <p:cNvPr name="TextBox 7" id="7"/>
          <p:cNvSpPr txBox="true"/>
          <p:nvPr/>
        </p:nvSpPr>
        <p:spPr>
          <a:xfrm rot="0">
            <a:off x="2046620" y="8475331"/>
            <a:ext cx="3007506" cy="1590376"/>
          </a:xfrm>
          <a:prstGeom prst="rect">
            <a:avLst/>
          </a:prstGeom>
        </p:spPr>
        <p:txBody>
          <a:bodyPr anchor="t" rtlCol="false" tIns="0" lIns="0" bIns="0" rIns="0">
            <a:spAutoFit/>
          </a:bodyPr>
          <a:lstStyle/>
          <a:p>
            <a:pPr>
              <a:lnSpc>
                <a:spcPts val="3166"/>
              </a:lnSpc>
            </a:pPr>
            <a:r>
              <a:rPr lang="en-US" sz="2261">
                <a:solidFill>
                  <a:srgbClr val="000000"/>
                </a:solidFill>
                <a:latin typeface="Montserrat"/>
              </a:rPr>
              <a:t>Some Increments were selling with much higher frequency</a:t>
            </a:r>
          </a:p>
        </p:txBody>
      </p:sp>
      <p:grpSp>
        <p:nvGrpSpPr>
          <p:cNvPr name="Group 8" id="8"/>
          <p:cNvGrpSpPr/>
          <p:nvPr/>
        </p:nvGrpSpPr>
        <p:grpSpPr>
          <a:xfrm rot="0">
            <a:off x="7640247" y="4804382"/>
            <a:ext cx="2512795" cy="2512795"/>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A6418"/>
            </a:solidFill>
          </p:spPr>
        </p:sp>
      </p:grpSp>
      <p:sp>
        <p:nvSpPr>
          <p:cNvPr name="TextBox 10" id="10"/>
          <p:cNvSpPr txBox="true"/>
          <p:nvPr/>
        </p:nvSpPr>
        <p:spPr>
          <a:xfrm rot="0">
            <a:off x="7948584" y="5621031"/>
            <a:ext cx="1896121" cy="1124186"/>
          </a:xfrm>
          <a:prstGeom prst="rect">
            <a:avLst/>
          </a:prstGeom>
        </p:spPr>
        <p:txBody>
          <a:bodyPr anchor="t" rtlCol="false" tIns="0" lIns="0" bIns="0" rIns="0">
            <a:spAutoFit/>
          </a:bodyPr>
          <a:lstStyle/>
          <a:p>
            <a:pPr algn="ctr">
              <a:lnSpc>
                <a:spcPts val="8242"/>
              </a:lnSpc>
            </a:pPr>
            <a:r>
              <a:rPr lang="en-US" sz="9058">
                <a:solidFill>
                  <a:srgbClr val="FFFFFF"/>
                </a:solidFill>
                <a:latin typeface="Montserrat Ultra-Bold"/>
              </a:rPr>
              <a:t>02</a:t>
            </a:r>
          </a:p>
        </p:txBody>
      </p:sp>
      <p:sp>
        <p:nvSpPr>
          <p:cNvPr name="TextBox 11" id="11"/>
          <p:cNvSpPr txBox="true"/>
          <p:nvPr/>
        </p:nvSpPr>
        <p:spPr>
          <a:xfrm rot="0">
            <a:off x="7640247" y="7773155"/>
            <a:ext cx="2715607" cy="548221"/>
          </a:xfrm>
          <a:prstGeom prst="rect">
            <a:avLst/>
          </a:prstGeom>
        </p:spPr>
        <p:txBody>
          <a:bodyPr anchor="t" rtlCol="false" tIns="0" lIns="0" bIns="0" rIns="0">
            <a:spAutoFit/>
          </a:bodyPr>
          <a:lstStyle/>
          <a:p>
            <a:pPr>
              <a:lnSpc>
                <a:spcPts val="4433"/>
              </a:lnSpc>
            </a:pPr>
            <a:r>
              <a:rPr lang="en-US" sz="3166">
                <a:solidFill>
                  <a:srgbClr val="F9B80C"/>
                </a:solidFill>
                <a:latin typeface="Montserrat Ultra-Bold"/>
              </a:rPr>
              <a:t>ODNR</a:t>
            </a:r>
          </a:p>
        </p:txBody>
      </p:sp>
      <p:sp>
        <p:nvSpPr>
          <p:cNvPr name="TextBox 12" id="12"/>
          <p:cNvSpPr txBox="true"/>
          <p:nvPr/>
        </p:nvSpPr>
        <p:spPr>
          <a:xfrm rot="0">
            <a:off x="7640247" y="8475331"/>
            <a:ext cx="3007506" cy="1190326"/>
          </a:xfrm>
          <a:prstGeom prst="rect">
            <a:avLst/>
          </a:prstGeom>
        </p:spPr>
        <p:txBody>
          <a:bodyPr anchor="t" rtlCol="false" tIns="0" lIns="0" bIns="0" rIns="0">
            <a:spAutoFit/>
          </a:bodyPr>
          <a:lstStyle/>
          <a:p>
            <a:pPr>
              <a:lnSpc>
                <a:spcPts val="3166"/>
              </a:lnSpc>
            </a:pPr>
            <a:r>
              <a:rPr lang="en-US" sz="2261">
                <a:solidFill>
                  <a:srgbClr val="000000"/>
                </a:solidFill>
                <a:latin typeface="Montserrat"/>
              </a:rPr>
              <a:t>Some observations were higher than 1000€</a:t>
            </a:r>
          </a:p>
        </p:txBody>
      </p:sp>
      <p:grpSp>
        <p:nvGrpSpPr>
          <p:cNvPr name="Group 13" id="13"/>
          <p:cNvGrpSpPr/>
          <p:nvPr/>
        </p:nvGrpSpPr>
        <p:grpSpPr>
          <a:xfrm rot="0">
            <a:off x="13233875" y="4804382"/>
            <a:ext cx="2512795" cy="2512795"/>
            <a:chOff x="0" y="0"/>
            <a:chExt cx="6350000" cy="6350000"/>
          </a:xfrm>
        </p:grpSpPr>
        <p:sp>
          <p:nvSpPr>
            <p:cNvPr name="Freeform 14" id="1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A6418"/>
            </a:solidFill>
          </p:spPr>
        </p:sp>
      </p:grpSp>
      <p:sp>
        <p:nvSpPr>
          <p:cNvPr name="TextBox 15" id="15"/>
          <p:cNvSpPr txBox="true"/>
          <p:nvPr/>
        </p:nvSpPr>
        <p:spPr>
          <a:xfrm rot="0">
            <a:off x="13542211" y="5621031"/>
            <a:ext cx="1896121" cy="1124186"/>
          </a:xfrm>
          <a:prstGeom prst="rect">
            <a:avLst/>
          </a:prstGeom>
        </p:spPr>
        <p:txBody>
          <a:bodyPr anchor="t" rtlCol="false" tIns="0" lIns="0" bIns="0" rIns="0">
            <a:spAutoFit/>
          </a:bodyPr>
          <a:lstStyle/>
          <a:p>
            <a:pPr algn="ctr">
              <a:lnSpc>
                <a:spcPts val="8242"/>
              </a:lnSpc>
            </a:pPr>
            <a:r>
              <a:rPr lang="en-US" sz="9058">
                <a:solidFill>
                  <a:srgbClr val="FFFFFF"/>
                </a:solidFill>
                <a:latin typeface="Montserrat Ultra-Bold"/>
              </a:rPr>
              <a:t>03</a:t>
            </a:r>
          </a:p>
        </p:txBody>
      </p:sp>
      <p:sp>
        <p:nvSpPr>
          <p:cNvPr name="TextBox 16" id="16"/>
          <p:cNvSpPr txBox="true"/>
          <p:nvPr/>
        </p:nvSpPr>
        <p:spPr>
          <a:xfrm rot="0">
            <a:off x="13233875" y="7773155"/>
            <a:ext cx="2715607" cy="548221"/>
          </a:xfrm>
          <a:prstGeom prst="rect">
            <a:avLst/>
          </a:prstGeom>
        </p:spPr>
        <p:txBody>
          <a:bodyPr anchor="t" rtlCol="false" tIns="0" lIns="0" bIns="0" rIns="0">
            <a:spAutoFit/>
          </a:bodyPr>
          <a:lstStyle/>
          <a:p>
            <a:pPr>
              <a:lnSpc>
                <a:spcPts val="4433"/>
              </a:lnSpc>
            </a:pPr>
            <a:r>
              <a:rPr lang="en-US" sz="3166">
                <a:solidFill>
                  <a:srgbClr val="F9B80C"/>
                </a:solidFill>
                <a:latin typeface="Montserrat Ultra-Bold"/>
              </a:rPr>
              <a:t>Countries</a:t>
            </a:r>
          </a:p>
        </p:txBody>
      </p:sp>
      <p:sp>
        <p:nvSpPr>
          <p:cNvPr name="TextBox 17" id="17"/>
          <p:cNvSpPr txBox="true"/>
          <p:nvPr/>
        </p:nvSpPr>
        <p:spPr>
          <a:xfrm rot="0">
            <a:off x="13233875" y="8475331"/>
            <a:ext cx="3007506" cy="1190326"/>
          </a:xfrm>
          <a:prstGeom prst="rect">
            <a:avLst/>
          </a:prstGeom>
        </p:spPr>
        <p:txBody>
          <a:bodyPr anchor="t" rtlCol="false" tIns="0" lIns="0" bIns="0" rIns="0">
            <a:spAutoFit/>
          </a:bodyPr>
          <a:lstStyle/>
          <a:p>
            <a:pPr algn="just">
              <a:lnSpc>
                <a:spcPts val="3166"/>
              </a:lnSpc>
            </a:pPr>
            <a:r>
              <a:rPr lang="en-US" sz="2261">
                <a:solidFill>
                  <a:srgbClr val="000000"/>
                </a:solidFill>
                <a:latin typeface="Montserrat"/>
              </a:rPr>
              <a:t>The data contain car rentals from over 150 countries!</a:t>
            </a:r>
          </a:p>
        </p:txBody>
      </p:sp>
      <p:sp>
        <p:nvSpPr>
          <p:cNvPr name="TextBox 18" id="18"/>
          <p:cNvSpPr txBox="true"/>
          <p:nvPr/>
        </p:nvSpPr>
        <p:spPr>
          <a:xfrm rot="0">
            <a:off x="1028700" y="1190625"/>
            <a:ext cx="4735102" cy="1144818"/>
          </a:xfrm>
          <a:prstGeom prst="rect">
            <a:avLst/>
          </a:prstGeom>
        </p:spPr>
        <p:txBody>
          <a:bodyPr anchor="t" rtlCol="false" tIns="0" lIns="0" bIns="0" rIns="0">
            <a:spAutoFit/>
          </a:bodyPr>
          <a:lstStyle/>
          <a:p>
            <a:pPr>
              <a:lnSpc>
                <a:spcPts val="4370"/>
              </a:lnSpc>
            </a:pPr>
            <a:r>
              <a:rPr lang="en-US" sz="4966">
                <a:solidFill>
                  <a:srgbClr val="FFFFFF"/>
                </a:solidFill>
                <a:latin typeface="Montserrat Ultra-Bold"/>
              </a:rPr>
              <a:t>Interesting </a:t>
            </a:r>
          </a:p>
          <a:p>
            <a:pPr>
              <a:lnSpc>
                <a:spcPts val="4370"/>
              </a:lnSpc>
            </a:pPr>
            <a:r>
              <a:rPr lang="en-US" sz="4966">
                <a:solidFill>
                  <a:srgbClr val="FFFFFF"/>
                </a:solidFill>
                <a:latin typeface="Montserrat Ultra-Bold"/>
              </a:rPr>
              <a:t>Facts</a:t>
            </a:r>
          </a:p>
        </p:txBody>
      </p:sp>
      <p:sp>
        <p:nvSpPr>
          <p:cNvPr name="TextBox 19" id="19"/>
          <p:cNvSpPr txBox="true"/>
          <p:nvPr/>
        </p:nvSpPr>
        <p:spPr>
          <a:xfrm rot="0">
            <a:off x="5054125" y="981075"/>
            <a:ext cx="7566368" cy="1462405"/>
          </a:xfrm>
          <a:prstGeom prst="rect">
            <a:avLst/>
          </a:prstGeom>
        </p:spPr>
        <p:txBody>
          <a:bodyPr anchor="t" rtlCol="false" tIns="0" lIns="0" bIns="0" rIns="0">
            <a:spAutoFit/>
          </a:bodyPr>
          <a:lstStyle/>
          <a:p>
            <a:pPr algn="just">
              <a:lnSpc>
                <a:spcPts val="3920"/>
              </a:lnSpc>
            </a:pPr>
            <a:r>
              <a:rPr lang="en-US" sz="2800">
                <a:solidFill>
                  <a:srgbClr val="FFFFFF"/>
                </a:solidFill>
                <a:latin typeface="Montserrat"/>
              </a:rPr>
              <a:t>Some interesting facts about the EDA analysis that are worth mentioning are the following:</a:t>
            </a:r>
          </a:p>
        </p:txBody>
      </p:sp>
      <p:sp>
        <p:nvSpPr>
          <p:cNvPr name="Freeform 20" id="20"/>
          <p:cNvSpPr/>
          <p:nvPr/>
        </p:nvSpPr>
        <p:spPr>
          <a:xfrm flipH="false" flipV="false" rot="0">
            <a:off x="14986693" y="-325915"/>
            <a:ext cx="1519953" cy="1769960"/>
          </a:xfrm>
          <a:custGeom>
            <a:avLst/>
            <a:gdLst/>
            <a:ahLst/>
            <a:cxnLst/>
            <a:rect r="r" b="b" t="t" l="l"/>
            <a:pathLst>
              <a:path h="1769960" w="1519953">
                <a:moveTo>
                  <a:pt x="0" y="0"/>
                </a:moveTo>
                <a:lnTo>
                  <a:pt x="1519953" y="0"/>
                </a:lnTo>
                <a:lnTo>
                  <a:pt x="1519953" y="1769960"/>
                </a:lnTo>
                <a:lnTo>
                  <a:pt x="0" y="17699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0">
            <a:off x="-254506" y="6095249"/>
            <a:ext cx="1519953" cy="1769960"/>
          </a:xfrm>
          <a:custGeom>
            <a:avLst/>
            <a:gdLst/>
            <a:ahLst/>
            <a:cxnLst/>
            <a:rect r="r" b="b" t="t" l="l"/>
            <a:pathLst>
              <a:path h="1769960" w="1519953">
                <a:moveTo>
                  <a:pt x="0" y="0"/>
                </a:moveTo>
                <a:lnTo>
                  <a:pt x="1519954" y="0"/>
                </a:lnTo>
                <a:lnTo>
                  <a:pt x="1519954" y="1769960"/>
                </a:lnTo>
                <a:lnTo>
                  <a:pt x="0" y="17699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9144000" y="0"/>
            <a:ext cx="9144000" cy="7092641"/>
          </a:xfrm>
          <a:prstGeom prst="rect">
            <a:avLst/>
          </a:prstGeom>
          <a:solidFill>
            <a:srgbClr val="4A6418"/>
          </a:solidFill>
        </p:spPr>
      </p:sp>
      <p:sp>
        <p:nvSpPr>
          <p:cNvPr name="AutoShape 3" id="3"/>
          <p:cNvSpPr/>
          <p:nvPr/>
        </p:nvSpPr>
        <p:spPr>
          <a:xfrm rot="0">
            <a:off x="0" y="9177205"/>
            <a:ext cx="5330907" cy="1109795"/>
          </a:xfrm>
          <a:prstGeom prst="rect">
            <a:avLst/>
          </a:prstGeom>
          <a:solidFill>
            <a:srgbClr val="4A6418"/>
          </a:solidFill>
        </p:spPr>
      </p:sp>
      <p:sp>
        <p:nvSpPr>
          <p:cNvPr name="Freeform 4" id="4"/>
          <p:cNvSpPr/>
          <p:nvPr/>
        </p:nvSpPr>
        <p:spPr>
          <a:xfrm flipH="false" flipV="false" rot="0">
            <a:off x="15440038" y="7841313"/>
            <a:ext cx="2847962" cy="2445687"/>
          </a:xfrm>
          <a:custGeom>
            <a:avLst/>
            <a:gdLst/>
            <a:ahLst/>
            <a:cxnLst/>
            <a:rect r="r" b="b" t="t" l="l"/>
            <a:pathLst>
              <a:path h="2445687" w="2847962">
                <a:moveTo>
                  <a:pt x="0" y="0"/>
                </a:moveTo>
                <a:lnTo>
                  <a:pt x="2847962" y="0"/>
                </a:lnTo>
                <a:lnTo>
                  <a:pt x="2847962" y="2445687"/>
                </a:lnTo>
                <a:lnTo>
                  <a:pt x="0" y="24456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0" y="0"/>
            <a:ext cx="2847962" cy="2445687"/>
          </a:xfrm>
          <a:custGeom>
            <a:avLst/>
            <a:gdLst/>
            <a:ahLst/>
            <a:cxnLst/>
            <a:rect r="r" b="b" t="t" l="l"/>
            <a:pathLst>
              <a:path h="2445687" w="2847962">
                <a:moveTo>
                  <a:pt x="0" y="2445687"/>
                </a:moveTo>
                <a:lnTo>
                  <a:pt x="2847962" y="2445687"/>
                </a:lnTo>
                <a:lnTo>
                  <a:pt x="2847962" y="0"/>
                </a:lnTo>
                <a:lnTo>
                  <a:pt x="0" y="0"/>
                </a:lnTo>
                <a:lnTo>
                  <a:pt x="0" y="244568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196047" y="8847122"/>
            <a:ext cx="1519953" cy="1769960"/>
          </a:xfrm>
          <a:custGeom>
            <a:avLst/>
            <a:gdLst/>
            <a:ahLst/>
            <a:cxnLst/>
            <a:rect r="r" b="b" t="t" l="l"/>
            <a:pathLst>
              <a:path h="1769960" w="1519953">
                <a:moveTo>
                  <a:pt x="0" y="0"/>
                </a:moveTo>
                <a:lnTo>
                  <a:pt x="1519953" y="0"/>
                </a:lnTo>
                <a:lnTo>
                  <a:pt x="1519953" y="1769961"/>
                </a:lnTo>
                <a:lnTo>
                  <a:pt x="0" y="17699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0" y="0"/>
            <a:ext cx="9388701" cy="8491019"/>
          </a:xfrm>
          <a:custGeom>
            <a:avLst/>
            <a:gdLst/>
            <a:ahLst/>
            <a:cxnLst/>
            <a:rect r="r" b="b" t="t" l="l"/>
            <a:pathLst>
              <a:path h="8491019" w="9388701">
                <a:moveTo>
                  <a:pt x="0" y="0"/>
                </a:moveTo>
                <a:lnTo>
                  <a:pt x="9388701" y="0"/>
                </a:lnTo>
                <a:lnTo>
                  <a:pt x="9388701" y="8491019"/>
                </a:lnTo>
                <a:lnTo>
                  <a:pt x="0" y="8491019"/>
                </a:lnTo>
                <a:lnTo>
                  <a:pt x="0" y="0"/>
                </a:lnTo>
                <a:close/>
              </a:path>
            </a:pathLst>
          </a:custGeom>
          <a:blipFill>
            <a:blip r:embed="rId6"/>
            <a:stretch>
              <a:fillRect l="0" t="0" r="0" b="0"/>
            </a:stretch>
          </a:blipFill>
        </p:spPr>
      </p:sp>
      <p:sp>
        <p:nvSpPr>
          <p:cNvPr name="TextBox 8" id="8"/>
          <p:cNvSpPr txBox="true"/>
          <p:nvPr/>
        </p:nvSpPr>
        <p:spPr>
          <a:xfrm rot="0">
            <a:off x="10284049" y="2060549"/>
            <a:ext cx="5709672" cy="1140078"/>
          </a:xfrm>
          <a:prstGeom prst="rect">
            <a:avLst/>
          </a:prstGeom>
        </p:spPr>
        <p:txBody>
          <a:bodyPr anchor="t" rtlCol="false" tIns="0" lIns="0" bIns="0" rIns="0">
            <a:spAutoFit/>
          </a:bodyPr>
          <a:lstStyle/>
          <a:p>
            <a:pPr>
              <a:lnSpc>
                <a:spcPts val="4370"/>
              </a:lnSpc>
            </a:pPr>
            <a:r>
              <a:rPr lang="en-US" sz="4966">
                <a:solidFill>
                  <a:srgbClr val="F9B80C"/>
                </a:solidFill>
                <a:latin typeface="Montserrat Ultra-Bold"/>
              </a:rPr>
              <a:t>Pairwise</a:t>
            </a:r>
          </a:p>
          <a:p>
            <a:pPr>
              <a:lnSpc>
                <a:spcPts val="4370"/>
              </a:lnSpc>
            </a:pPr>
            <a:r>
              <a:rPr lang="en-US" sz="4966">
                <a:solidFill>
                  <a:srgbClr val="F9B80C"/>
                </a:solidFill>
                <a:latin typeface="Montserrat Ultra-Bold"/>
              </a:rPr>
              <a:t>Comparisons</a:t>
            </a:r>
          </a:p>
        </p:txBody>
      </p:sp>
      <p:sp>
        <p:nvSpPr>
          <p:cNvPr name="TextBox 9" id="9"/>
          <p:cNvSpPr txBox="true"/>
          <p:nvPr/>
        </p:nvSpPr>
        <p:spPr>
          <a:xfrm rot="0">
            <a:off x="10284049" y="3660297"/>
            <a:ext cx="6863901" cy="2453005"/>
          </a:xfrm>
          <a:prstGeom prst="rect">
            <a:avLst/>
          </a:prstGeom>
        </p:spPr>
        <p:txBody>
          <a:bodyPr anchor="t" rtlCol="false" tIns="0" lIns="0" bIns="0" rIns="0">
            <a:spAutoFit/>
          </a:bodyPr>
          <a:lstStyle/>
          <a:p>
            <a:pPr algn="just">
              <a:lnSpc>
                <a:spcPts val="3920"/>
              </a:lnSpc>
            </a:pPr>
            <a:r>
              <a:rPr lang="en-US" sz="2800">
                <a:solidFill>
                  <a:srgbClr val="FFFFFF"/>
                </a:solidFill>
                <a:latin typeface="Montserrat"/>
              </a:rPr>
              <a:t>In order to test if there is any correlation between the data, we can check the graphs of the correlation plots for the quantitative, and the ANOVA results for the qualitative data.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9407906" cy="5739018"/>
          </a:xfrm>
          <a:prstGeom prst="rect">
            <a:avLst/>
          </a:prstGeom>
          <a:solidFill>
            <a:srgbClr val="F9B80C"/>
          </a:solidFill>
        </p:spPr>
      </p:sp>
      <p:sp>
        <p:nvSpPr>
          <p:cNvPr name="Freeform 3" id="3"/>
          <p:cNvSpPr/>
          <p:nvPr/>
        </p:nvSpPr>
        <p:spPr>
          <a:xfrm flipH="true" flipV="false" rot="0">
            <a:off x="0" y="7003574"/>
            <a:ext cx="3823494" cy="3283426"/>
          </a:xfrm>
          <a:custGeom>
            <a:avLst/>
            <a:gdLst/>
            <a:ahLst/>
            <a:cxnLst/>
            <a:rect r="r" b="b" t="t" l="l"/>
            <a:pathLst>
              <a:path h="3283426" w="3823494">
                <a:moveTo>
                  <a:pt x="3823494" y="0"/>
                </a:moveTo>
                <a:lnTo>
                  <a:pt x="0" y="0"/>
                </a:lnTo>
                <a:lnTo>
                  <a:pt x="0" y="3283426"/>
                </a:lnTo>
                <a:lnTo>
                  <a:pt x="3823494" y="3283426"/>
                </a:lnTo>
                <a:lnTo>
                  <a:pt x="38234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636001" y="1007025"/>
            <a:ext cx="9054616" cy="858685"/>
          </a:xfrm>
          <a:prstGeom prst="rect">
            <a:avLst/>
          </a:prstGeom>
        </p:spPr>
        <p:txBody>
          <a:bodyPr anchor="t" rtlCol="false" tIns="0" lIns="0" bIns="0" rIns="0">
            <a:spAutoFit/>
          </a:bodyPr>
          <a:lstStyle/>
          <a:p>
            <a:pPr>
              <a:lnSpc>
                <a:spcPts val="6218"/>
              </a:lnSpc>
            </a:pPr>
            <a:r>
              <a:rPr lang="en-US" sz="7066">
                <a:solidFill>
                  <a:srgbClr val="FFFFFF"/>
                </a:solidFill>
                <a:latin typeface="Montserrat Ultra-Bold"/>
              </a:rPr>
              <a:t>Model Selection</a:t>
            </a:r>
          </a:p>
        </p:txBody>
      </p:sp>
      <p:sp>
        <p:nvSpPr>
          <p:cNvPr name="Freeform 5" id="5"/>
          <p:cNvSpPr/>
          <p:nvPr/>
        </p:nvSpPr>
        <p:spPr>
          <a:xfrm flipH="false" flipV="false" rot="0">
            <a:off x="6584956" y="8977009"/>
            <a:ext cx="1519953" cy="1769960"/>
          </a:xfrm>
          <a:custGeom>
            <a:avLst/>
            <a:gdLst/>
            <a:ahLst/>
            <a:cxnLst/>
            <a:rect r="r" b="b" t="t" l="l"/>
            <a:pathLst>
              <a:path h="1769960" w="1519953">
                <a:moveTo>
                  <a:pt x="0" y="0"/>
                </a:moveTo>
                <a:lnTo>
                  <a:pt x="1519953" y="0"/>
                </a:lnTo>
                <a:lnTo>
                  <a:pt x="1519953" y="1769960"/>
                </a:lnTo>
                <a:lnTo>
                  <a:pt x="0" y="17699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7017823" y="-438368"/>
            <a:ext cx="1519953" cy="1769960"/>
          </a:xfrm>
          <a:custGeom>
            <a:avLst/>
            <a:gdLst/>
            <a:ahLst/>
            <a:cxnLst/>
            <a:rect r="r" b="b" t="t" l="l"/>
            <a:pathLst>
              <a:path h="1769960" w="1519953">
                <a:moveTo>
                  <a:pt x="0" y="0"/>
                </a:moveTo>
                <a:lnTo>
                  <a:pt x="1519953" y="0"/>
                </a:lnTo>
                <a:lnTo>
                  <a:pt x="1519953" y="1769960"/>
                </a:lnTo>
                <a:lnTo>
                  <a:pt x="0" y="17699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7" id="7"/>
          <p:cNvSpPr/>
          <p:nvPr/>
        </p:nvSpPr>
        <p:spPr>
          <a:xfrm rot="0">
            <a:off x="9129870" y="4547982"/>
            <a:ext cx="9407906" cy="5739018"/>
          </a:xfrm>
          <a:prstGeom prst="rect">
            <a:avLst/>
          </a:prstGeom>
          <a:solidFill>
            <a:srgbClr val="F9B80C"/>
          </a:solidFill>
        </p:spPr>
      </p:sp>
      <p:sp>
        <p:nvSpPr>
          <p:cNvPr name="TextBox 8" id="8"/>
          <p:cNvSpPr txBox="true"/>
          <p:nvPr/>
        </p:nvSpPr>
        <p:spPr>
          <a:xfrm rot="0">
            <a:off x="9765871" y="6076950"/>
            <a:ext cx="8135904" cy="3181350"/>
          </a:xfrm>
          <a:prstGeom prst="rect">
            <a:avLst/>
          </a:prstGeom>
        </p:spPr>
        <p:txBody>
          <a:bodyPr anchor="t" rtlCol="false" tIns="0" lIns="0" bIns="0" rIns="0">
            <a:spAutoFit/>
          </a:bodyPr>
          <a:lstStyle/>
          <a:p>
            <a:pPr algn="just">
              <a:lnSpc>
                <a:spcPts val="4200"/>
              </a:lnSpc>
            </a:pPr>
            <a:r>
              <a:rPr lang="en-US" sz="3000">
                <a:solidFill>
                  <a:srgbClr val="FFFFFF"/>
                </a:solidFill>
                <a:latin typeface="Montserrat"/>
              </a:rPr>
              <a:t>IThe outcome of the model undergoes the assumptions of a good multiple regression model.</a:t>
            </a:r>
          </a:p>
          <a:p>
            <a:pPr>
              <a:lnSpc>
                <a:spcPts val="4200"/>
              </a:lnSpc>
            </a:pPr>
            <a:r>
              <a:rPr lang="en-US" sz="3000">
                <a:solidFill>
                  <a:srgbClr val="FFFFFF"/>
                </a:solidFill>
                <a:latin typeface="Montserrat"/>
              </a:rPr>
              <a:t>Note, we use forward selection here, starting from the Null model because we have many data in the model</a:t>
            </a:r>
          </a:p>
        </p:txBody>
      </p:sp>
      <p:sp>
        <p:nvSpPr>
          <p:cNvPr name="TextBox 9" id="9"/>
          <p:cNvSpPr txBox="true"/>
          <p:nvPr/>
        </p:nvSpPr>
        <p:spPr>
          <a:xfrm rot="0">
            <a:off x="636001" y="1962150"/>
            <a:ext cx="8135904" cy="3181350"/>
          </a:xfrm>
          <a:prstGeom prst="rect">
            <a:avLst/>
          </a:prstGeom>
        </p:spPr>
        <p:txBody>
          <a:bodyPr anchor="t" rtlCol="false" tIns="0" lIns="0" bIns="0" rIns="0">
            <a:spAutoFit/>
          </a:bodyPr>
          <a:lstStyle/>
          <a:p>
            <a:pPr>
              <a:lnSpc>
                <a:spcPts val="4200"/>
              </a:lnSpc>
            </a:pPr>
            <a:r>
              <a:rPr lang="en-US" sz="3000">
                <a:solidFill>
                  <a:srgbClr val="FFFFFF"/>
                </a:solidFill>
                <a:latin typeface="Montserrat"/>
              </a:rPr>
              <a:t>In order to get the best model we run a stepwise process and based on AIC we can select the optimum one.</a:t>
            </a:r>
            <a:r>
              <a:rPr lang="en-US" sz="3000">
                <a:solidFill>
                  <a:srgbClr val="FFFFFF"/>
                </a:solidFill>
                <a:latin typeface="Montserrat"/>
              </a:rPr>
              <a:t> </a:t>
            </a:r>
          </a:p>
          <a:p>
            <a:pPr>
              <a:lnSpc>
                <a:spcPts val="4200"/>
              </a:lnSpc>
            </a:pPr>
            <a:r>
              <a:rPr lang="en-US" sz="3000">
                <a:solidFill>
                  <a:srgbClr val="FFFFFF"/>
                </a:solidFill>
                <a:latin typeface="Montserrat"/>
              </a:rPr>
              <a:t>A log transformation was implemented to the data because it gives better properties to the outcomes.</a:t>
            </a:r>
          </a:p>
        </p:txBody>
      </p:sp>
      <p:sp>
        <p:nvSpPr>
          <p:cNvPr name="Freeform 10" id="10"/>
          <p:cNvSpPr/>
          <p:nvPr/>
        </p:nvSpPr>
        <p:spPr>
          <a:xfrm flipH="true" flipV="false" rot="0">
            <a:off x="14169861" y="-438368"/>
            <a:ext cx="2847962" cy="2445687"/>
          </a:xfrm>
          <a:custGeom>
            <a:avLst/>
            <a:gdLst/>
            <a:ahLst/>
            <a:cxnLst/>
            <a:rect r="r" b="b" t="t" l="l"/>
            <a:pathLst>
              <a:path h="2445687" w="2847962">
                <a:moveTo>
                  <a:pt x="2847962" y="0"/>
                </a:moveTo>
                <a:lnTo>
                  <a:pt x="0" y="0"/>
                </a:lnTo>
                <a:lnTo>
                  <a:pt x="0" y="2445687"/>
                </a:lnTo>
                <a:lnTo>
                  <a:pt x="2847962" y="2445687"/>
                </a:lnTo>
                <a:lnTo>
                  <a:pt x="284796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1028700"/>
            <a:ext cx="8938966" cy="3627435"/>
          </a:xfrm>
          <a:prstGeom prst="rect">
            <a:avLst/>
          </a:prstGeom>
          <a:solidFill>
            <a:srgbClr val="F9B80C"/>
          </a:solidFill>
        </p:spPr>
      </p:sp>
      <p:sp>
        <p:nvSpPr>
          <p:cNvPr name="TextBox 3" id="3"/>
          <p:cNvSpPr txBox="true"/>
          <p:nvPr/>
        </p:nvSpPr>
        <p:spPr>
          <a:xfrm rot="0">
            <a:off x="1028700" y="2068086"/>
            <a:ext cx="7309184" cy="1777264"/>
          </a:xfrm>
          <a:prstGeom prst="rect">
            <a:avLst/>
          </a:prstGeom>
        </p:spPr>
        <p:txBody>
          <a:bodyPr anchor="t" rtlCol="false" tIns="0" lIns="0" bIns="0" rIns="0">
            <a:spAutoFit/>
          </a:bodyPr>
          <a:lstStyle/>
          <a:p>
            <a:pPr>
              <a:lnSpc>
                <a:spcPts val="6721"/>
              </a:lnSpc>
            </a:pPr>
            <a:r>
              <a:rPr lang="en-US" sz="7638">
                <a:solidFill>
                  <a:srgbClr val="FFFFFF"/>
                </a:solidFill>
                <a:latin typeface="Montserrat Ultra-Bold"/>
              </a:rPr>
              <a:t>Model’s Variability</a:t>
            </a:r>
          </a:p>
        </p:txBody>
      </p:sp>
      <p:sp>
        <p:nvSpPr>
          <p:cNvPr name="TextBox 4" id="4"/>
          <p:cNvSpPr txBox="true"/>
          <p:nvPr/>
        </p:nvSpPr>
        <p:spPr>
          <a:xfrm rot="0">
            <a:off x="1028700" y="5086350"/>
            <a:ext cx="6863901" cy="1581150"/>
          </a:xfrm>
          <a:prstGeom prst="rect">
            <a:avLst/>
          </a:prstGeom>
        </p:spPr>
        <p:txBody>
          <a:bodyPr anchor="t" rtlCol="false" tIns="0" lIns="0" bIns="0" rIns="0">
            <a:spAutoFit/>
          </a:bodyPr>
          <a:lstStyle/>
          <a:p>
            <a:pPr>
              <a:lnSpc>
                <a:spcPts val="4200"/>
              </a:lnSpc>
            </a:pPr>
            <a:r>
              <a:rPr lang="en-US" sz="3000">
                <a:solidFill>
                  <a:srgbClr val="000000"/>
                </a:solidFill>
                <a:latin typeface="Montserrat"/>
              </a:rPr>
              <a:t>After running the model, the total variance that is explained is approximately equal to 40%</a:t>
            </a:r>
          </a:p>
        </p:txBody>
      </p:sp>
      <p:sp>
        <p:nvSpPr>
          <p:cNvPr name="Freeform 5" id="5"/>
          <p:cNvSpPr/>
          <p:nvPr/>
        </p:nvSpPr>
        <p:spPr>
          <a:xfrm flipH="true" flipV="false" rot="0">
            <a:off x="0" y="7003574"/>
            <a:ext cx="3823494" cy="3283426"/>
          </a:xfrm>
          <a:custGeom>
            <a:avLst/>
            <a:gdLst/>
            <a:ahLst/>
            <a:cxnLst/>
            <a:rect r="r" b="b" t="t" l="l"/>
            <a:pathLst>
              <a:path h="3283426" w="3823494">
                <a:moveTo>
                  <a:pt x="3823494" y="0"/>
                </a:moveTo>
                <a:lnTo>
                  <a:pt x="0" y="0"/>
                </a:lnTo>
                <a:lnTo>
                  <a:pt x="0" y="3283426"/>
                </a:lnTo>
                <a:lnTo>
                  <a:pt x="3823494" y="3283426"/>
                </a:lnTo>
                <a:lnTo>
                  <a:pt x="38234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pic>
        <p:nvPicPr>
          <p:cNvPr name="Picture 6" id="6"/>
          <p:cNvPicPr>
            <a:picLocks noChangeAspect="true"/>
          </p:cNvPicPr>
          <p:nvPr/>
        </p:nvPicPr>
        <p:blipFill>
          <a:blip r:embed="rId4"/>
          <a:stretch>
            <a:fillRect/>
          </a:stretch>
        </p:blipFill>
        <p:spPr>
          <a:xfrm rot="0">
            <a:off x="9128818" y="1333497"/>
            <a:ext cx="9197473" cy="6973169"/>
          </a:xfrm>
          <a:prstGeom prst="rect">
            <a:avLst/>
          </a:prstGeom>
        </p:spPr>
      </p:pic>
      <p:sp>
        <p:nvSpPr>
          <p:cNvPr name="Freeform 7" id="7"/>
          <p:cNvSpPr/>
          <p:nvPr/>
        </p:nvSpPr>
        <p:spPr>
          <a:xfrm flipH="false" flipV="false" rot="0">
            <a:off x="6135120" y="8847122"/>
            <a:ext cx="1519953" cy="1769960"/>
          </a:xfrm>
          <a:custGeom>
            <a:avLst/>
            <a:gdLst/>
            <a:ahLst/>
            <a:cxnLst/>
            <a:rect r="r" b="b" t="t" l="l"/>
            <a:pathLst>
              <a:path h="1769960" w="1519953">
                <a:moveTo>
                  <a:pt x="0" y="0"/>
                </a:moveTo>
                <a:lnTo>
                  <a:pt x="1519953" y="0"/>
                </a:lnTo>
                <a:lnTo>
                  <a:pt x="1519953" y="1769961"/>
                </a:lnTo>
                <a:lnTo>
                  <a:pt x="0" y="176996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5739347" y="-357154"/>
            <a:ext cx="1519953" cy="1769960"/>
          </a:xfrm>
          <a:custGeom>
            <a:avLst/>
            <a:gdLst/>
            <a:ahLst/>
            <a:cxnLst/>
            <a:rect r="r" b="b" t="t" l="l"/>
            <a:pathLst>
              <a:path h="1769960" w="1519953">
                <a:moveTo>
                  <a:pt x="0" y="0"/>
                </a:moveTo>
                <a:lnTo>
                  <a:pt x="1519953" y="0"/>
                </a:lnTo>
                <a:lnTo>
                  <a:pt x="1519953" y="1769960"/>
                </a:lnTo>
                <a:lnTo>
                  <a:pt x="0" y="17699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388183" y="0"/>
            <a:ext cx="6899817" cy="4114800"/>
          </a:xfrm>
          <a:custGeom>
            <a:avLst/>
            <a:gdLst/>
            <a:ahLst/>
            <a:cxnLst/>
            <a:rect r="r" b="b" t="t" l="l"/>
            <a:pathLst>
              <a:path h="4114800" w="6899817">
                <a:moveTo>
                  <a:pt x="0" y="0"/>
                </a:moveTo>
                <a:lnTo>
                  <a:pt x="6899817" y="0"/>
                </a:lnTo>
                <a:lnTo>
                  <a:pt x="689981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25474" y="8847122"/>
            <a:ext cx="1519953" cy="1769960"/>
          </a:xfrm>
          <a:custGeom>
            <a:avLst/>
            <a:gdLst/>
            <a:ahLst/>
            <a:cxnLst/>
            <a:rect r="r" b="b" t="t" l="l"/>
            <a:pathLst>
              <a:path h="1769960" w="1519953">
                <a:moveTo>
                  <a:pt x="0" y="0"/>
                </a:moveTo>
                <a:lnTo>
                  <a:pt x="1519953" y="0"/>
                </a:lnTo>
                <a:lnTo>
                  <a:pt x="1519953" y="1769961"/>
                </a:lnTo>
                <a:lnTo>
                  <a:pt x="0" y="17699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140381" y="-357154"/>
            <a:ext cx="1519953" cy="1769960"/>
          </a:xfrm>
          <a:custGeom>
            <a:avLst/>
            <a:gdLst/>
            <a:ahLst/>
            <a:cxnLst/>
            <a:rect r="r" b="b" t="t" l="l"/>
            <a:pathLst>
              <a:path h="1769960" w="1519953">
                <a:moveTo>
                  <a:pt x="0" y="0"/>
                </a:moveTo>
                <a:lnTo>
                  <a:pt x="1519953" y="0"/>
                </a:lnTo>
                <a:lnTo>
                  <a:pt x="1519953" y="1769960"/>
                </a:lnTo>
                <a:lnTo>
                  <a:pt x="0" y="17699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30573" y="4497430"/>
            <a:ext cx="15226854" cy="1175658"/>
          </a:xfrm>
          <a:custGeom>
            <a:avLst/>
            <a:gdLst/>
            <a:ahLst/>
            <a:cxnLst/>
            <a:rect r="r" b="b" t="t" l="l"/>
            <a:pathLst>
              <a:path h="1175658" w="15226854">
                <a:moveTo>
                  <a:pt x="0" y="0"/>
                </a:moveTo>
                <a:lnTo>
                  <a:pt x="15226854" y="0"/>
                </a:lnTo>
                <a:lnTo>
                  <a:pt x="15226854" y="1175657"/>
                </a:lnTo>
                <a:lnTo>
                  <a:pt x="0" y="1175657"/>
                </a:lnTo>
                <a:lnTo>
                  <a:pt x="0" y="0"/>
                </a:lnTo>
                <a:close/>
              </a:path>
            </a:pathLst>
          </a:custGeom>
          <a:blipFill>
            <a:blip r:embed="rId6"/>
            <a:stretch>
              <a:fillRect l="0" t="0" r="0" b="-13352"/>
            </a:stretch>
          </a:blipFill>
        </p:spPr>
      </p:sp>
      <p:sp>
        <p:nvSpPr>
          <p:cNvPr name="Freeform 6" id="6"/>
          <p:cNvSpPr/>
          <p:nvPr/>
        </p:nvSpPr>
        <p:spPr>
          <a:xfrm flipH="false" flipV="false" rot="0">
            <a:off x="4669502" y="6814397"/>
            <a:ext cx="8948997" cy="2443903"/>
          </a:xfrm>
          <a:custGeom>
            <a:avLst/>
            <a:gdLst/>
            <a:ahLst/>
            <a:cxnLst/>
            <a:rect r="r" b="b" t="t" l="l"/>
            <a:pathLst>
              <a:path h="2443903" w="8948997">
                <a:moveTo>
                  <a:pt x="0" y="0"/>
                </a:moveTo>
                <a:lnTo>
                  <a:pt x="8948996" y="0"/>
                </a:lnTo>
                <a:lnTo>
                  <a:pt x="8948996" y="2443903"/>
                </a:lnTo>
                <a:lnTo>
                  <a:pt x="0" y="2443903"/>
                </a:lnTo>
                <a:lnTo>
                  <a:pt x="0" y="0"/>
                </a:lnTo>
                <a:close/>
              </a:path>
            </a:pathLst>
          </a:custGeom>
          <a:blipFill>
            <a:blip r:embed="rId7"/>
            <a:stretch>
              <a:fillRect l="0" t="0" r="0" b="0"/>
            </a:stretch>
          </a:blipFill>
        </p:spPr>
      </p:sp>
      <p:sp>
        <p:nvSpPr>
          <p:cNvPr name="TextBox 7" id="7"/>
          <p:cNvSpPr txBox="true"/>
          <p:nvPr/>
        </p:nvSpPr>
        <p:spPr>
          <a:xfrm rot="0">
            <a:off x="1028700" y="1190625"/>
            <a:ext cx="3950031" cy="592368"/>
          </a:xfrm>
          <a:prstGeom prst="rect">
            <a:avLst/>
          </a:prstGeom>
        </p:spPr>
        <p:txBody>
          <a:bodyPr anchor="t" rtlCol="false" tIns="0" lIns="0" bIns="0" rIns="0">
            <a:spAutoFit/>
          </a:bodyPr>
          <a:lstStyle/>
          <a:p>
            <a:pPr>
              <a:lnSpc>
                <a:spcPts val="4370"/>
              </a:lnSpc>
            </a:pPr>
            <a:r>
              <a:rPr lang="en-US" sz="4966">
                <a:solidFill>
                  <a:srgbClr val="4A6418"/>
                </a:solidFill>
                <a:latin typeface="Montserrat Ultra-Bold"/>
              </a:rPr>
              <a:t>Best model</a:t>
            </a:r>
          </a:p>
        </p:txBody>
      </p:sp>
      <p:sp>
        <p:nvSpPr>
          <p:cNvPr name="TextBox 8" id="8"/>
          <p:cNvSpPr txBox="true"/>
          <p:nvPr/>
        </p:nvSpPr>
        <p:spPr>
          <a:xfrm rot="0">
            <a:off x="1028700" y="2780849"/>
            <a:ext cx="6863901" cy="1047750"/>
          </a:xfrm>
          <a:prstGeom prst="rect">
            <a:avLst/>
          </a:prstGeom>
        </p:spPr>
        <p:txBody>
          <a:bodyPr anchor="t" rtlCol="false" tIns="0" lIns="0" bIns="0" rIns="0">
            <a:spAutoFit/>
          </a:bodyPr>
          <a:lstStyle/>
          <a:p>
            <a:pPr algn="just">
              <a:lnSpc>
                <a:spcPts val="4200"/>
              </a:lnSpc>
            </a:pPr>
            <a:r>
              <a:rPr lang="en-US" sz="3000">
                <a:solidFill>
                  <a:srgbClr val="000000"/>
                </a:solidFill>
                <a:latin typeface="Montserrat"/>
              </a:rPr>
              <a:t>The best model that the analysis gives us is this:</a:t>
            </a:r>
          </a:p>
        </p:txBody>
      </p:sp>
      <p:sp>
        <p:nvSpPr>
          <p:cNvPr name="TextBox 9" id="9"/>
          <p:cNvSpPr txBox="true"/>
          <p:nvPr/>
        </p:nvSpPr>
        <p:spPr>
          <a:xfrm rot="0">
            <a:off x="1028700" y="5998567"/>
            <a:ext cx="12423038" cy="514350"/>
          </a:xfrm>
          <a:prstGeom prst="rect">
            <a:avLst/>
          </a:prstGeom>
        </p:spPr>
        <p:txBody>
          <a:bodyPr anchor="t" rtlCol="false" tIns="0" lIns="0" bIns="0" rIns="0">
            <a:spAutoFit/>
          </a:bodyPr>
          <a:lstStyle/>
          <a:p>
            <a:pPr algn="just">
              <a:lnSpc>
                <a:spcPts val="4200"/>
              </a:lnSpc>
            </a:pPr>
            <a:r>
              <a:rPr lang="en-US" sz="3000">
                <a:solidFill>
                  <a:srgbClr val="000000"/>
                </a:solidFill>
                <a:latin typeface="Montserrat"/>
              </a:rPr>
              <a:t>However, we are going to use the following for the modeling:</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7507790" y="0"/>
            <a:ext cx="10780210" cy="10287000"/>
          </a:xfrm>
          <a:prstGeom prst="rect">
            <a:avLst/>
          </a:prstGeom>
          <a:solidFill>
            <a:srgbClr val="4A6418"/>
          </a:solidFill>
        </p:spPr>
      </p:sp>
      <p:sp>
        <p:nvSpPr>
          <p:cNvPr name="Freeform 3" id="3"/>
          <p:cNvSpPr/>
          <p:nvPr/>
        </p:nvSpPr>
        <p:spPr>
          <a:xfrm flipH="false" flipV="false" rot="0">
            <a:off x="1028700" y="2251408"/>
            <a:ext cx="9089602" cy="5536394"/>
          </a:xfrm>
          <a:custGeom>
            <a:avLst/>
            <a:gdLst/>
            <a:ahLst/>
            <a:cxnLst/>
            <a:rect r="r" b="b" t="t" l="l"/>
            <a:pathLst>
              <a:path h="5536394" w="9089602">
                <a:moveTo>
                  <a:pt x="0" y="0"/>
                </a:moveTo>
                <a:lnTo>
                  <a:pt x="9089602" y="0"/>
                </a:lnTo>
                <a:lnTo>
                  <a:pt x="9089602" y="5536394"/>
                </a:lnTo>
                <a:lnTo>
                  <a:pt x="0" y="55363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449086" y="7003574"/>
            <a:ext cx="3823494" cy="3283426"/>
          </a:xfrm>
          <a:custGeom>
            <a:avLst/>
            <a:gdLst/>
            <a:ahLst/>
            <a:cxnLst/>
            <a:rect r="r" b="b" t="t" l="l"/>
            <a:pathLst>
              <a:path h="3283426" w="3823494">
                <a:moveTo>
                  <a:pt x="0" y="0"/>
                </a:moveTo>
                <a:lnTo>
                  <a:pt x="3823494" y="0"/>
                </a:lnTo>
                <a:lnTo>
                  <a:pt x="3823494" y="3283426"/>
                </a:lnTo>
                <a:lnTo>
                  <a:pt x="0" y="328342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0">
            <a:off x="0" y="0"/>
            <a:ext cx="2621727" cy="2251408"/>
          </a:xfrm>
          <a:custGeom>
            <a:avLst/>
            <a:gdLst/>
            <a:ahLst/>
            <a:cxnLst/>
            <a:rect r="r" b="b" t="t" l="l"/>
            <a:pathLst>
              <a:path h="2251408" w="2621727">
                <a:moveTo>
                  <a:pt x="2621727" y="2251408"/>
                </a:moveTo>
                <a:lnTo>
                  <a:pt x="0" y="2251408"/>
                </a:lnTo>
                <a:lnTo>
                  <a:pt x="0" y="0"/>
                </a:lnTo>
                <a:lnTo>
                  <a:pt x="2621727" y="0"/>
                </a:lnTo>
                <a:lnTo>
                  <a:pt x="2621727" y="2251408"/>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9328995" y="1504950"/>
            <a:ext cx="7930305" cy="2974748"/>
          </a:xfrm>
          <a:prstGeom prst="rect">
            <a:avLst/>
          </a:prstGeom>
        </p:spPr>
        <p:txBody>
          <a:bodyPr anchor="t" rtlCol="false" tIns="0" lIns="0" bIns="0" rIns="0">
            <a:spAutoFit/>
          </a:bodyPr>
          <a:lstStyle/>
          <a:p>
            <a:pPr algn="r">
              <a:lnSpc>
                <a:spcPts val="11156"/>
              </a:lnSpc>
            </a:pPr>
            <a:r>
              <a:rPr lang="en-US" sz="13441">
                <a:solidFill>
                  <a:srgbClr val="F9B80C"/>
                </a:solidFill>
                <a:latin typeface="Montserrat Ultra-Bold"/>
              </a:rPr>
              <a:t>THANK YOU</a:t>
            </a:r>
          </a:p>
        </p:txBody>
      </p:sp>
      <p:sp>
        <p:nvSpPr>
          <p:cNvPr name="Freeform 7" id="7"/>
          <p:cNvSpPr/>
          <p:nvPr/>
        </p:nvSpPr>
        <p:spPr>
          <a:xfrm flipH="false" flipV="false" rot="0">
            <a:off x="1028700" y="8874194"/>
            <a:ext cx="1519953" cy="1769960"/>
          </a:xfrm>
          <a:custGeom>
            <a:avLst/>
            <a:gdLst/>
            <a:ahLst/>
            <a:cxnLst/>
            <a:rect r="r" b="b" t="t" l="l"/>
            <a:pathLst>
              <a:path h="1769960" w="1519953">
                <a:moveTo>
                  <a:pt x="0" y="0"/>
                </a:moveTo>
                <a:lnTo>
                  <a:pt x="1519953" y="0"/>
                </a:lnTo>
                <a:lnTo>
                  <a:pt x="1519953" y="1769960"/>
                </a:lnTo>
                <a:lnTo>
                  <a:pt x="0" y="17699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DAF8bbOZNfo</dc:identifier>
  <dcterms:modified xsi:type="dcterms:W3CDTF">2011-08-01T06:04:30Z</dcterms:modified>
  <cp:revision>1</cp:revision>
  <dc:title>Course Assignment 2</dc:title>
</cp:coreProperties>
</file>